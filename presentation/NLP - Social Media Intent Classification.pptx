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embeddedFontLst>
    <p:embeddedFont>
      <p:font typeface="Assistant"/>
      <p:regular r:id="rId23"/>
      <p:bold r:id="rId24"/>
    </p:embeddedFont>
    <p:embeddedFont>
      <p:font typeface="Urbanist"/>
      <p:regular r:id="rId25"/>
      <p:bold r:id="rId26"/>
      <p:italic r:id="rId27"/>
      <p:boldItalic r:id="rId28"/>
    </p:embeddedFont>
    <p:embeddedFont>
      <p:font typeface="Assistant ExtraBold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D2CB4F9-C8E8-4178-924B-2CF7561B8EB4}">
  <a:tblStyle styleId="{2D2CB4F9-C8E8-4178-924B-2CF7561B8EB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Assistant-bold.fntdata"/><Relationship Id="rId23" Type="http://schemas.openxmlformats.org/officeDocument/2006/relationships/font" Target="fonts/Assistan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bold.fntdata"/><Relationship Id="rId25" Type="http://schemas.openxmlformats.org/officeDocument/2006/relationships/font" Target="fonts/Urbanist-regular.fntdata"/><Relationship Id="rId28" Type="http://schemas.openxmlformats.org/officeDocument/2006/relationships/font" Target="fonts/Urbanist-boldItalic.fntdata"/><Relationship Id="rId27" Type="http://schemas.openxmlformats.org/officeDocument/2006/relationships/font" Target="fonts/Urbanis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AssistantExtra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ab0ce8b70_0_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ab0ce8b70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e5ad5bc701_0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e5ad5bc701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5ad5bc701_7_0)">
  <p:cSld name="Generated (g3e5ad5bc701_7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6.png"/><Relationship Id="rId9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10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7.png"/><Relationship Id="rId5" Type="http://schemas.openxmlformats.org/officeDocument/2006/relationships/image" Target="../media/image18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3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0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Relationship Id="rId5" Type="http://schemas.openxmlformats.org/officeDocument/2006/relationships/image" Target="../media/image14.png"/><Relationship Id="rId6" Type="http://schemas.openxmlformats.org/officeDocument/2006/relationships/image" Target="../media/image34.png"/><Relationship Id="rId7" Type="http://schemas.openxmlformats.org/officeDocument/2006/relationships/image" Target="../media/image28.png"/><Relationship Id="rId8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5" Type="http://schemas.openxmlformats.org/officeDocument/2006/relationships/image" Target="../media/image3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Relationship Id="rId5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png"/><Relationship Id="rId4" Type="http://schemas.openxmlformats.org/officeDocument/2006/relationships/image" Target="../media/image29.png"/><Relationship Id="rId5" Type="http://schemas.openxmlformats.org/officeDocument/2006/relationships/image" Target="../media/image23.png"/><Relationship Id="rId6" Type="http://schemas.openxmlformats.org/officeDocument/2006/relationships/image" Target="../media/image3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hyperlink" Target="https://github.com/Amityst12/NLP-IntentClassification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1.png"/><Relationship Id="rId5" Type="http://schemas.openxmlformats.org/officeDocument/2006/relationships/image" Target="../media/image36.png"/><Relationship Id="rId6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5" name="Google Shape;8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4"/>
          <p:cNvSpPr txBox="1"/>
          <p:nvPr/>
        </p:nvSpPr>
        <p:spPr>
          <a:xfrm>
            <a:off x="0" y="2033575"/>
            <a:ext cx="12192000" cy="9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85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Social Media: </a:t>
            </a:r>
            <a:r>
              <a:rPr b="1" lang="en-US" sz="5850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Intent Classification</a:t>
            </a:r>
            <a:endParaRPr sz="500">
              <a:solidFill>
                <a:srgbClr val="A3E635"/>
              </a:solidFill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2106749" y="3184100"/>
            <a:ext cx="797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סיווג כוונות משתמש (Intent Classification) לתגובות באינסטגרם</a:t>
            </a:r>
            <a:endParaRPr/>
          </a:p>
        </p:txBody>
      </p:sp>
      <p:sp>
        <p:nvSpPr>
          <p:cNvPr id="88" name="Google Shape;88;p14"/>
          <p:cNvSpPr txBox="1"/>
          <p:nvPr/>
        </p:nvSpPr>
        <p:spPr>
          <a:xfrm>
            <a:off x="4552950" y="4195762"/>
            <a:ext cx="308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Assistant"/>
                <a:ea typeface="Assistant"/>
                <a:cs typeface="Assistant"/>
                <a:sym typeface="Assistant"/>
              </a:rPr>
              <a:t>מגישים: עמית יהושפט, אגם מדרכי </a:t>
            </a:r>
            <a:endParaRPr/>
          </a:p>
        </p:txBody>
      </p:sp>
      <p:sp>
        <p:nvSpPr>
          <p:cNvPr id="89" name="Google Shape;89;p14"/>
          <p:cNvSpPr txBox="1"/>
          <p:nvPr/>
        </p:nvSpPr>
        <p:spPr>
          <a:xfrm>
            <a:off x="4552950" y="4538662"/>
            <a:ext cx="3086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קורס: עיבוד שפה טבעית בעזרת מחשב | HIT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95" name="Google Shape;95;p15"/>
          <p:cNvSpPr/>
          <p:nvPr/>
        </p:nvSpPr>
        <p:spPr>
          <a:xfrm>
            <a:off x="11553825" y="581025"/>
            <a:ext cx="57300" cy="59070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5"/>
          <p:cNvSpPr txBox="1"/>
          <p:nvPr/>
        </p:nvSpPr>
        <p:spPr>
          <a:xfrm>
            <a:off x="38100" y="581025"/>
            <a:ext cx="113823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8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דוגמאות: </a:t>
            </a:r>
            <a:r>
              <a:rPr b="1" lang="en-US" sz="3608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תגובות מרשתות חברתיות</a:t>
            </a:r>
            <a:endParaRPr b="1" sz="3608">
              <a:solidFill>
                <a:srgbClr val="F8FAFC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97" name="Google Shape;97;p15"/>
          <p:cNvGrpSpPr/>
          <p:nvPr/>
        </p:nvGrpSpPr>
        <p:grpSpPr>
          <a:xfrm>
            <a:off x="762000" y="1714500"/>
            <a:ext cx="4953000" cy="1143000"/>
            <a:chOff x="0" y="0"/>
            <a:chExt cx="4953000" cy="1143000"/>
          </a:xfrm>
        </p:grpSpPr>
        <p:sp>
          <p:nvSpPr>
            <p:cNvPr id="98" name="Google Shape;98;p15"/>
            <p:cNvSpPr/>
            <p:nvPr/>
          </p:nvSpPr>
          <p:spPr>
            <a:xfrm>
              <a:off x="0" y="0"/>
              <a:ext cx="4953000" cy="11430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5"/>
            <p:cNvSpPr txBox="1"/>
            <p:nvPr/>
          </p:nvSpPr>
          <p:spPr>
            <a:xfrm>
              <a:off x="190500" y="190500"/>
              <a:ext cx="457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A3E635"/>
                  </a:solidFill>
                  <a:latin typeface="Assistant"/>
                  <a:ea typeface="Assistant"/>
                  <a:cs typeface="Assistant"/>
                  <a:sym typeface="Assistant"/>
                </a:rPr>
                <a:t>LEAD (ליד)</a:t>
              </a:r>
              <a:endParaRPr b="1" sz="1200">
                <a:solidFill>
                  <a:srgbClr val="A3E635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CBD5E1"/>
                  </a:solidFill>
                  <a:latin typeface="Assistant"/>
                  <a:ea typeface="Assistant"/>
                  <a:cs typeface="Assistant"/>
                  <a:sym typeface="Assistant"/>
                </a:rPr>
                <a:t>"שלח</a:t>
              </a:r>
              <a:r>
                <a:rPr lang="en-US" sz="1500">
                  <a:solidFill>
                    <a:srgbClr val="CBD5E1"/>
                  </a:solidFill>
                  <a:latin typeface="Assistant"/>
                  <a:ea typeface="Assistant"/>
                  <a:cs typeface="Assistant"/>
                  <a:sym typeface="Assistant"/>
                </a:rPr>
                <a:t>ת</a:t>
              </a:r>
              <a:r>
                <a:rPr b="0" lang="en-US" sz="1500">
                  <a:solidFill>
                    <a:srgbClr val="CBD5E1"/>
                  </a:solidFill>
                  <a:latin typeface="Assistant"/>
                  <a:ea typeface="Assistant"/>
                  <a:cs typeface="Assistant"/>
                  <a:sym typeface="Assistant"/>
                </a:rPr>
                <a:t>י פרטים, מעוניין לרכוש!"</a:t>
              </a:r>
              <a:endParaRPr b="0" sz="1500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100" name="Google Shape;100;p15"/>
          <p:cNvGrpSpPr/>
          <p:nvPr/>
        </p:nvGrpSpPr>
        <p:grpSpPr>
          <a:xfrm>
            <a:off x="6477000" y="1714500"/>
            <a:ext cx="4953000" cy="1143000"/>
            <a:chOff x="0" y="0"/>
            <a:chExt cx="4953000" cy="1143000"/>
          </a:xfrm>
        </p:grpSpPr>
        <p:sp>
          <p:nvSpPr>
            <p:cNvPr id="101" name="Google Shape;101;p15"/>
            <p:cNvSpPr/>
            <p:nvPr/>
          </p:nvSpPr>
          <p:spPr>
            <a:xfrm>
              <a:off x="0" y="0"/>
              <a:ext cx="4953000" cy="11430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5"/>
            <p:cNvSpPr txBox="1"/>
            <p:nvPr/>
          </p:nvSpPr>
          <p:spPr>
            <a:xfrm>
              <a:off x="190500" y="190500"/>
              <a:ext cx="457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A3E635"/>
                  </a:solidFill>
                  <a:latin typeface="Assistant"/>
                  <a:ea typeface="Assistant"/>
                  <a:cs typeface="Assistant"/>
                  <a:sym typeface="Assistant"/>
                </a:rPr>
                <a:t>SUPPORT (תמיכה)</a:t>
              </a:r>
              <a:endParaRPr b="1" sz="1200">
                <a:solidFill>
                  <a:srgbClr val="A3E635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CBD5E1"/>
                  </a:solidFill>
                  <a:latin typeface="Assistant"/>
                  <a:ea typeface="Assistant"/>
                  <a:cs typeface="Assistant"/>
                  <a:sym typeface="Assistant"/>
                </a:rPr>
                <a:t>"איפה החבילה שלי? מחכה כבר שבועיים"</a:t>
              </a:r>
              <a:endParaRPr b="0" sz="1500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103" name="Google Shape;103;p15"/>
          <p:cNvGrpSpPr/>
          <p:nvPr/>
        </p:nvGrpSpPr>
        <p:grpSpPr>
          <a:xfrm>
            <a:off x="762000" y="3238500"/>
            <a:ext cx="4953000" cy="1143000"/>
            <a:chOff x="0" y="0"/>
            <a:chExt cx="4953000" cy="1143000"/>
          </a:xfrm>
        </p:grpSpPr>
        <p:sp>
          <p:nvSpPr>
            <p:cNvPr id="104" name="Google Shape;104;p15"/>
            <p:cNvSpPr/>
            <p:nvPr/>
          </p:nvSpPr>
          <p:spPr>
            <a:xfrm>
              <a:off x="0" y="0"/>
              <a:ext cx="4953000" cy="11430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5"/>
            <p:cNvSpPr txBox="1"/>
            <p:nvPr/>
          </p:nvSpPr>
          <p:spPr>
            <a:xfrm>
              <a:off x="190500" y="190500"/>
              <a:ext cx="457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A3E635"/>
                  </a:solidFill>
                  <a:latin typeface="Assistant"/>
                  <a:ea typeface="Assistant"/>
                  <a:cs typeface="Assistant"/>
                  <a:sym typeface="Assistant"/>
                </a:rPr>
                <a:t>SPAM (ספאם)</a:t>
              </a:r>
              <a:endParaRPr b="1" sz="1200">
                <a:solidFill>
                  <a:srgbClr val="A3E635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CBD5E1"/>
                  </a:solidFill>
                  <a:latin typeface="Assistant"/>
                  <a:ea typeface="Assistant"/>
                  <a:cs typeface="Assistant"/>
                  <a:sym typeface="Assistant"/>
                </a:rPr>
                <a:t>" Check bio for free iPhone 1</a:t>
              </a:r>
              <a:r>
                <a:rPr lang="en-US" sz="1500">
                  <a:solidFill>
                    <a:srgbClr val="CBD5E1"/>
                  </a:solidFill>
                  <a:latin typeface="Assistant"/>
                  <a:ea typeface="Assistant"/>
                  <a:cs typeface="Assistant"/>
                  <a:sym typeface="Assistant"/>
                </a:rPr>
                <a:t>7 Pro Max</a:t>
              </a:r>
              <a:r>
                <a:rPr b="0" lang="en-US" sz="1500">
                  <a:solidFill>
                    <a:srgbClr val="CBD5E1"/>
                  </a:solidFill>
                  <a:latin typeface="Assistant"/>
                  <a:ea typeface="Assistant"/>
                  <a:cs typeface="Assistant"/>
                  <a:sym typeface="Assistant"/>
                </a:rPr>
                <a:t>!!! 🚀🚀"</a:t>
              </a:r>
              <a:endParaRPr b="0" sz="1500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106" name="Google Shape;106;p15"/>
          <p:cNvGrpSpPr/>
          <p:nvPr/>
        </p:nvGrpSpPr>
        <p:grpSpPr>
          <a:xfrm>
            <a:off x="6477000" y="3238500"/>
            <a:ext cx="4953000" cy="1143000"/>
            <a:chOff x="0" y="0"/>
            <a:chExt cx="4953000" cy="1143000"/>
          </a:xfrm>
        </p:grpSpPr>
        <p:sp>
          <p:nvSpPr>
            <p:cNvPr id="107" name="Google Shape;107;p15"/>
            <p:cNvSpPr/>
            <p:nvPr/>
          </p:nvSpPr>
          <p:spPr>
            <a:xfrm>
              <a:off x="0" y="0"/>
              <a:ext cx="4953000" cy="11430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5"/>
            <p:cNvSpPr txBox="1"/>
            <p:nvPr/>
          </p:nvSpPr>
          <p:spPr>
            <a:xfrm>
              <a:off x="190500" y="190500"/>
              <a:ext cx="457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A3E635"/>
                  </a:solidFill>
                  <a:latin typeface="Assistant"/>
                  <a:ea typeface="Assistant"/>
                  <a:cs typeface="Assistant"/>
                  <a:sym typeface="Assistant"/>
                </a:rPr>
                <a:t>IDLE (כללי)</a:t>
              </a:r>
              <a:endParaRPr b="1" sz="1200">
                <a:solidFill>
                  <a:srgbClr val="A3E635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CBD5E1"/>
                  </a:solidFill>
                  <a:latin typeface="Assistant"/>
                  <a:ea typeface="Assistant"/>
                  <a:cs typeface="Assistant"/>
                  <a:sym typeface="Assistant"/>
                </a:rPr>
                <a:t>"וואו נראה אשששש 🔥🔥🔥"</a:t>
              </a:r>
              <a:endParaRPr b="0" sz="1500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109" name="Google Shape;109;p15"/>
          <p:cNvGrpSpPr/>
          <p:nvPr/>
        </p:nvGrpSpPr>
        <p:grpSpPr>
          <a:xfrm>
            <a:off x="3619500" y="4762500"/>
            <a:ext cx="4953000" cy="1143000"/>
            <a:chOff x="0" y="0"/>
            <a:chExt cx="4953000" cy="1143000"/>
          </a:xfrm>
        </p:grpSpPr>
        <p:sp>
          <p:nvSpPr>
            <p:cNvPr id="110" name="Google Shape;110;p15"/>
            <p:cNvSpPr/>
            <p:nvPr/>
          </p:nvSpPr>
          <p:spPr>
            <a:xfrm>
              <a:off x="0" y="0"/>
              <a:ext cx="4953000" cy="11430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5"/>
            <p:cNvSpPr txBox="1"/>
            <p:nvPr/>
          </p:nvSpPr>
          <p:spPr>
            <a:xfrm>
              <a:off x="190500" y="190500"/>
              <a:ext cx="457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A3E635"/>
                  </a:solidFill>
                  <a:latin typeface="Assistant"/>
                  <a:ea typeface="Assistant"/>
                  <a:cs typeface="Assistant"/>
                  <a:sym typeface="Assistant"/>
                </a:rPr>
                <a:t>LEAD (ליד - Heblish)</a:t>
              </a:r>
              <a:endParaRPr b="1" sz="1200">
                <a:solidFill>
                  <a:srgbClr val="A3E635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CBD5E1"/>
                  </a:solidFill>
                  <a:latin typeface="Assistant"/>
                  <a:ea typeface="Assistant"/>
                  <a:cs typeface="Assistant"/>
                  <a:sym typeface="Assistant"/>
                </a:rPr>
                <a:t>"Price man? כמה עולה המשלוח?"</a:t>
              </a:r>
              <a:endParaRPr b="0" sz="1500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96362" y="2590800"/>
            <a:ext cx="2614612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2590800"/>
            <a:ext cx="2614612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6137" y="2590800"/>
            <a:ext cx="2614612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590800"/>
            <a:ext cx="2614612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9291637" y="3524250"/>
            <a:ext cx="212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מצב (S)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9291637" y="3914775"/>
            <a:ext cx="2024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אפליקציה</a:t>
            </a:r>
            <a:r>
              <a:rPr b="0" i="0" lang="en-US" sz="13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 המספקת אוטומציה לעסקים באינסטגרם המתמודדים עם מאות תגובות ביום.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486525" y="3524250"/>
            <a:ext cx="212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סיבוך (C)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486525" y="3914775"/>
            <a:ext cx="202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התגובות רועשות (Heblish, סלנג) וקשה להבחין בין ליד רציני לספאם ללא ניתוח NLP.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3681412" y="3524250"/>
            <a:ext cx="212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שאלה (Q)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3681412" y="3914775"/>
            <a:ext cx="202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האם ניתן לאמן מודל סיווג מדויק ללא מאגר נתונים מתויג בעברית?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76300" y="3524250"/>
            <a:ext cx="212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תשובה (A)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76300" y="3914775"/>
            <a:ext cx="202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כן. שימוש ב-SetFit עם דאטה סינתטי מבוסס LLM השיג דיוק של </a:t>
            </a:r>
            <a:r>
              <a:rPr b="1" i="0" lang="en-US" sz="13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97.5%</a:t>
            </a:r>
            <a:r>
              <a:rPr b="0" i="0" lang="en-US" sz="13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/>
          </a:p>
        </p:txBody>
      </p:sp>
      <p:pic>
        <p:nvPicPr>
          <p:cNvPr descr="image.png" id="129" name="Google Shape;12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096625" y="2943225"/>
            <a:ext cx="2190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53412" y="2943225"/>
            <a:ext cx="257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62575" y="294322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643187" y="2943225"/>
            <a:ext cx="2571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39052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תקציר מנהלים: </a:t>
            </a:r>
            <a:r>
              <a:rPr b="1" i="0" lang="en-US" sz="39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האתגר והפתרון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11553825" y="581025"/>
            <a:ext cx="57150" cy="59055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343150"/>
            <a:ext cx="5229225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343150"/>
            <a:ext cx="5229225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6772275" y="2733675"/>
            <a:ext cx="44481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>
                <a:solidFill>
                  <a:srgbClr val="A3E635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54+</a:t>
            </a:r>
            <a:r>
              <a:rPr b="0" i="0" lang="en-US" sz="9000" u="none" cap="none" strike="noStrike">
                <a:solidFill>
                  <a:srgbClr val="A3E635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%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772275" y="3876675"/>
            <a:ext cx="4448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מהתגובות באינסטגרם הן "רעש"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772275" y="4467225"/>
            <a:ext cx="44481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סיווג נכון מאפשר לנתב משאבים ללקוחות אמיתיים ולחסום בוטים באופן אוטונומי.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971550" y="2733675"/>
            <a:ext cx="44481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A3E635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4X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971550" y="3876675"/>
            <a:ext cx="4448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שיפור במהירות המענה ללידים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971550" y="4467225"/>
            <a:ext cx="44481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קיצור זמן הטיפול בתגובות Lead מתרגם ישירות לעלייה באחוזי ההמרה במכירות.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39052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הזדמנות עסקית: </a:t>
            </a:r>
            <a:r>
              <a:rPr b="1" i="0" lang="en-US" sz="39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אוטומציה חכמה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11553825" y="581025"/>
            <a:ext cx="57150" cy="59055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05025"/>
            <a:ext cx="522922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" y="2114550"/>
            <a:ext cx="521017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6381750" y="2295525"/>
            <a:ext cx="5229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3850" spcFirstLastPara="1" rIns="0" wrap="square" tIns="0">
            <a:spAutoFit/>
          </a:bodyPr>
          <a:lstStyle/>
          <a:p>
            <a:pPr indent="0" lvl="0" marL="45720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חוסר בדאטה: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 אין מאגר פומבי של תגובות סטורי ישראליות.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6381750" y="2895600"/>
            <a:ext cx="52293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09575" spcFirstLastPara="1" rIns="0" wrap="square" tIns="0">
            <a:spAutoFit/>
          </a:bodyPr>
          <a:lstStyle/>
          <a:p>
            <a:pPr indent="0" lvl="0" marL="45720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Heblish &amp; Slang: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 שילוב עברית/אנגלית ("price man", "אששש").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6381750" y="3810000"/>
            <a:ext cx="52293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52425" spcFirstLastPara="1" rIns="0" wrap="square" tIns="0">
            <a:spAutoFit/>
          </a:bodyPr>
          <a:lstStyle/>
          <a:p>
            <a:pPr indent="0" lvl="0" marL="45720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עמימות סמנטית: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 קושי להבדיל בין "שלח לינק" לבין ספאם של בוטים.</a:t>
            </a:r>
            <a:endParaRPr/>
          </a:p>
        </p:txBody>
      </p:sp>
      <p:pic>
        <p:nvPicPr>
          <p:cNvPr descr="image.png" id="160" name="Google Shape;16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30000" y="233838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344275" y="2938462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401425" y="3852862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39052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האתגר: </a:t>
            </a:r>
            <a:r>
              <a:rPr b="1" i="0" lang="en-US" sz="39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מורכבות השפה והנתונים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11553825" y="581025"/>
            <a:ext cx="57150" cy="59055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2203013" y="2852737"/>
            <a:ext cx="7785973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ארכיטקטורה </a:t>
            </a:r>
            <a:r>
              <a:rPr b="1" i="0" lang="en-US" sz="525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ומתודולוגיה</a:t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5381625" y="3948112"/>
            <a:ext cx="1428750" cy="5715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55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6429851" y="1524000"/>
            <a:ext cx="4990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הנדסת נתונים:</a:t>
            </a:r>
            <a:br>
              <a:rPr b="1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b="1" i="0" lang="en-US" sz="39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דאטה סינתטי</a:t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11553825" y="1524000"/>
            <a:ext cx="57150" cy="118110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6667500" y="3086100"/>
            <a:ext cx="49434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בהיעדר נתונים, השתמשנו ב-LLM כמחולל נתונים סינתטיים (Synthetic Data Generator).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6667500" y="3905250"/>
            <a:ext cx="49434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ג'נרטנו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1,000 דוגמאות</a:t>
            </a:r>
            <a:r>
              <a:rPr b="0" i="0" lang="en-US" sz="165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 מגוונות המדמות משתמשים ישראלים אמיתיים, כולל שגיאות כתיב וסלנג ("אח יקר", "מתתת", "כןכן").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6667500" y="4724400"/>
            <a:ext cx="49434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התוצאה: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 מאגר מאוזן המכסה 4 קטגוריות ליבה: LEAD, SUPPORT, SPAM, IDLE.</a:t>
            </a:r>
            <a:endParaRPr/>
          </a:p>
        </p:txBody>
      </p:sp>
      <p:pic>
        <p:nvPicPr>
          <p:cNvPr descr="image.png" id="182" name="Google Shape;18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96362" y="2719387"/>
            <a:ext cx="2614612" cy="2390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2719387"/>
            <a:ext cx="2614612" cy="2390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6137" y="2719387"/>
            <a:ext cx="2614612" cy="2390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719387"/>
            <a:ext cx="2614612" cy="23907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9291637" y="3652837"/>
            <a:ext cx="212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Few-Shot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9291637" y="4043362"/>
            <a:ext cx="202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אימון יעיל ומדויק על כמות קטנה יחסית של דוגמאות (1,000 רשומות).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6486525" y="3652837"/>
            <a:ext cx="212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Multilingual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6486525" y="4043362"/>
            <a:ext cx="202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שימוש ב-MiniLM-L12-v2 התומך ב-50+ שפות כולל עברית וסלנג.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3681412" y="3652837"/>
            <a:ext cx="212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GPU Acceleration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3681412" y="4043362"/>
            <a:ext cx="202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ניצול כוח העיבוד של RTX 4070 SUPER לקיצור זמני אימון משמעותי.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876300" y="3652837"/>
            <a:ext cx="212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FastAPI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876300" y="4043362"/>
            <a:ext cx="202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עטיפת המודל בשרת API מהיר מוכן לייצור</a:t>
            </a:r>
            <a:r>
              <a:rPr lang="en-US" sz="1350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b="0" i="0" lang="en-US" sz="13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(Productio</a:t>
            </a:r>
            <a:r>
              <a:rPr lang="en-US" sz="1350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n</a:t>
            </a:r>
            <a:r>
              <a:rPr b="0" i="0" lang="en-US" sz="13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-Ready</a:t>
            </a:r>
            <a:r>
              <a:rPr b="0" i="0" lang="en-US" sz="13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)</a:t>
            </a:r>
            <a:r>
              <a:rPr b="0" i="0" lang="en-US" sz="13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/>
          </a:p>
        </p:txBody>
      </p:sp>
      <p:pic>
        <p:nvPicPr>
          <p:cNvPr descr="image.png" id="200" name="Google Shape;20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010900" y="3071812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67687" y="307181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62575" y="307181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643187" y="3071812"/>
            <a:ext cx="2571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39052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מודל האימון: </a:t>
            </a:r>
            <a:r>
              <a:rPr b="1" i="0" lang="en-US" sz="39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SetFit Framework</a:t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>
            <a:off x="11553825" y="581025"/>
            <a:ext cx="57150" cy="59055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581025" y="4738687"/>
            <a:ext cx="11030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הוכחנו שמודל גנרי "מנחש" בלבד, בעוד המודל הייעודי שלנו משיג דיוק כמעט אנושי על דאטה ישראלי.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39052" y="581025"/>
            <a:ext cx="11381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מבחן התוצאה: </a:t>
            </a:r>
            <a:r>
              <a:rPr b="1" i="0" lang="en-US" sz="39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SetFit vs Zero-Shot</a:t>
            </a: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11553825" y="581025"/>
            <a:ext cx="57300" cy="59070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4" name="Google Shape;214;p22"/>
          <p:cNvGrpSpPr/>
          <p:nvPr/>
        </p:nvGrpSpPr>
        <p:grpSpPr>
          <a:xfrm>
            <a:off x="581025" y="2381250"/>
            <a:ext cx="11096775" cy="1143000"/>
            <a:chOff x="0" y="0"/>
            <a:chExt cx="11096775" cy="1143000"/>
          </a:xfrm>
        </p:grpSpPr>
        <p:grpSp>
          <p:nvGrpSpPr>
            <p:cNvPr id="215" name="Google Shape;215;p22"/>
            <p:cNvGrpSpPr/>
            <p:nvPr/>
          </p:nvGrpSpPr>
          <p:grpSpPr>
            <a:xfrm>
              <a:off x="0" y="0"/>
              <a:ext cx="11096775" cy="381000"/>
              <a:chOff x="0" y="0"/>
              <a:chExt cx="11096775" cy="381000"/>
            </a:xfrm>
          </p:grpSpPr>
          <p:sp>
            <p:nvSpPr>
              <p:cNvPr id="216" name="Google Shape;216;p22"/>
              <p:cNvSpPr/>
              <p:nvPr/>
            </p:nvSpPr>
            <p:spPr>
              <a:xfrm>
                <a:off x="0" y="0"/>
                <a:ext cx="9525000" cy="381000"/>
              </a:xfrm>
              <a:prstGeom prst="roundRect">
                <a:avLst>
                  <a:gd fmla="val 50000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22"/>
              <p:cNvSpPr/>
              <p:nvPr/>
            </p:nvSpPr>
            <p:spPr>
              <a:xfrm>
                <a:off x="1333500" y="0"/>
                <a:ext cx="8191500" cy="381000"/>
              </a:xfrm>
              <a:prstGeom prst="roundRect">
                <a:avLst>
                  <a:gd fmla="val 50000" name="adj"/>
                </a:avLst>
              </a:prstGeom>
              <a:solidFill>
                <a:srgbClr val="47556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22"/>
              <p:cNvSpPr txBox="1"/>
              <p:nvPr/>
            </p:nvSpPr>
            <p:spPr>
              <a:xfrm>
                <a:off x="9667875" y="0"/>
                <a:ext cx="1428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95">
                    <a:solidFill>
                      <a:srgbClr val="F8FAFC"/>
                    </a:solidFill>
                    <a:latin typeface="Assistant"/>
                    <a:ea typeface="Assistant"/>
                    <a:cs typeface="Assistant"/>
                    <a:sym typeface="Assistant"/>
                  </a:rPr>
                  <a:t>Zero-Shot Baseline</a:t>
                </a:r>
                <a:endParaRPr b="0" sz="1395">
                  <a:solidFill>
                    <a:srgbClr val="F8FAFC"/>
                  </a:solidFill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19" name="Google Shape;219;p22"/>
              <p:cNvSpPr txBox="1"/>
              <p:nvPr/>
            </p:nvSpPr>
            <p:spPr>
              <a:xfrm>
                <a:off x="1333500" y="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85">
                    <a:solidFill>
                      <a:srgbClr val="A3E635"/>
                    </a:solidFill>
                    <a:latin typeface="Assistant"/>
                    <a:ea typeface="Assistant"/>
                    <a:cs typeface="Assistant"/>
                    <a:sym typeface="Assistant"/>
                  </a:rPr>
                  <a:t>86.0%</a:t>
                </a:r>
                <a:endParaRPr b="1" sz="1085">
                  <a:solidFill>
                    <a:srgbClr val="A3E635"/>
                  </a:solidFill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220" name="Google Shape;220;p22"/>
            <p:cNvGrpSpPr/>
            <p:nvPr/>
          </p:nvGrpSpPr>
          <p:grpSpPr>
            <a:xfrm>
              <a:off x="0" y="762000"/>
              <a:ext cx="11096775" cy="381000"/>
              <a:chOff x="0" y="0"/>
              <a:chExt cx="11096775" cy="381000"/>
            </a:xfrm>
          </p:grpSpPr>
          <p:sp>
            <p:nvSpPr>
              <p:cNvPr id="221" name="Google Shape;221;p22"/>
              <p:cNvSpPr/>
              <p:nvPr/>
            </p:nvSpPr>
            <p:spPr>
              <a:xfrm>
                <a:off x="0" y="0"/>
                <a:ext cx="9525000" cy="381000"/>
              </a:xfrm>
              <a:prstGeom prst="roundRect">
                <a:avLst>
                  <a:gd fmla="val 50000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22"/>
              <p:cNvSpPr/>
              <p:nvPr/>
            </p:nvSpPr>
            <p:spPr>
              <a:xfrm>
                <a:off x="183375" y="0"/>
                <a:ext cx="9341700" cy="381000"/>
              </a:xfrm>
              <a:prstGeom prst="roundRect">
                <a:avLst>
                  <a:gd fmla="val 50000" name="adj"/>
                </a:avLst>
              </a:prstGeom>
              <a:solidFill>
                <a:srgbClr val="A3E63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22"/>
              <p:cNvSpPr txBox="1"/>
              <p:nvPr/>
            </p:nvSpPr>
            <p:spPr>
              <a:xfrm>
                <a:off x="9667875" y="0"/>
                <a:ext cx="1428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95">
                    <a:solidFill>
                      <a:srgbClr val="F8FAFC"/>
                    </a:solidFill>
                    <a:latin typeface="Assistant"/>
                    <a:ea typeface="Assistant"/>
                    <a:cs typeface="Assistant"/>
                    <a:sym typeface="Assistant"/>
                  </a:rPr>
                  <a:t>Fine-Tuned SetFit</a:t>
                </a:r>
                <a:endParaRPr b="1" sz="1395">
                  <a:solidFill>
                    <a:srgbClr val="F8FAFC"/>
                  </a:solidFill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24" name="Google Shape;224;p22"/>
              <p:cNvSpPr txBox="1"/>
              <p:nvPr/>
            </p:nvSpPr>
            <p:spPr>
              <a:xfrm>
                <a:off x="183375" y="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85">
                    <a:solidFill>
                      <a:srgbClr val="020617"/>
                    </a:solidFill>
                    <a:latin typeface="Assistant"/>
                    <a:ea typeface="Assistant"/>
                    <a:cs typeface="Assistant"/>
                    <a:sym typeface="Assistant"/>
                  </a:rPr>
                  <a:t>95.5%</a:t>
                </a:r>
                <a:endParaRPr b="1" sz="1085">
                  <a:solidFill>
                    <a:srgbClr val="020617"/>
                  </a:solidFill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0" name="Google Shape;230;p23"/>
          <p:cNvGraphicFramePr/>
          <p:nvPr/>
        </p:nvGraphicFramePr>
        <p:xfrm>
          <a:off x="581025" y="268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{2D2CB4F9-C8E8-4178-924B-2CF7561B8EB4}</a:tableStyleId>
              </a:tblPr>
              <a:tblGrid>
                <a:gridCol w="2568175"/>
                <a:gridCol w="3518300"/>
                <a:gridCol w="3429150"/>
                <a:gridCol w="1514325"/>
              </a:tblGrid>
              <a:tr h="661975"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A3E635"/>
                          </a:solidFill>
                          <a:highlight>
                            <a:srgbClr val="1E293B"/>
                          </a:highlight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מדד (Metric)</a:t>
                      </a:r>
                      <a:endParaRPr b="1" sz="1800">
                        <a:solidFill>
                          <a:srgbClr val="A3E635"/>
                        </a:solidFill>
                        <a:highlight>
                          <a:srgbClr val="1E293B"/>
                        </a:highlight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25400" marB="25400" marR="63500" marL="6350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A3E635"/>
                          </a:solidFill>
                          <a:highlight>
                            <a:srgbClr val="1E293B"/>
                          </a:highlight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Zero-Shot (Qwen)</a:t>
                      </a:r>
                      <a:endParaRPr b="1" sz="1800">
                        <a:solidFill>
                          <a:srgbClr val="A3E635"/>
                        </a:solidFill>
                        <a:highlight>
                          <a:srgbClr val="1E293B"/>
                        </a:highlight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25400" marB="25400" marR="63500" marL="6350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A3E635"/>
                          </a:solidFill>
                          <a:highlight>
                            <a:srgbClr val="1E293B"/>
                          </a:highlight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המודל שלנו (SetFit)</a:t>
                      </a:r>
                      <a:endParaRPr b="1" sz="1800">
                        <a:solidFill>
                          <a:srgbClr val="A3E635"/>
                        </a:solidFill>
                        <a:highlight>
                          <a:srgbClr val="1E293B"/>
                        </a:highlight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25400" marB="25400" marR="63500" marL="6350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A3E635"/>
                          </a:solidFill>
                          <a:highlight>
                            <a:srgbClr val="1E293B"/>
                          </a:highlight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שיפור</a:t>
                      </a:r>
                      <a:endParaRPr b="1" sz="1800">
                        <a:solidFill>
                          <a:srgbClr val="A3E635"/>
                        </a:solidFill>
                        <a:highlight>
                          <a:srgbClr val="1E293B"/>
                        </a:highlight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25400" marB="25400" marR="63500" marL="6350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61975"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>
                          <a:solidFill>
                            <a:srgbClr val="CBD5E1"/>
                          </a:solidFill>
                          <a:highlight>
                            <a:srgbClr val="000000"/>
                          </a:highlight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Accuracy (דיוק)</a:t>
                      </a:r>
                      <a:endParaRPr b="0" sz="1650">
                        <a:solidFill>
                          <a:srgbClr val="CBD5E1"/>
                        </a:solidFill>
                        <a:highlight>
                          <a:srgbClr val="000000"/>
                        </a:highlight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25400" marB="254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>
                          <a:solidFill>
                            <a:srgbClr val="CBD5E1"/>
                          </a:solidFill>
                          <a:highlight>
                            <a:srgbClr val="000000"/>
                          </a:highlight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86.00%</a:t>
                      </a:r>
                      <a:endParaRPr b="0" sz="1650">
                        <a:solidFill>
                          <a:srgbClr val="CBD5E1"/>
                        </a:solidFill>
                        <a:highlight>
                          <a:srgbClr val="000000"/>
                        </a:highlight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25400" marB="254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50">
                          <a:solidFill>
                            <a:srgbClr val="CBD5E1"/>
                          </a:solidFill>
                          <a:highlight>
                            <a:srgbClr val="000000"/>
                          </a:highlight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97.50%</a:t>
                      </a:r>
                      <a:endParaRPr b="1" sz="1650">
                        <a:solidFill>
                          <a:srgbClr val="CBD5E1"/>
                        </a:solidFill>
                        <a:highlight>
                          <a:srgbClr val="000000"/>
                        </a:highlight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25400" marB="254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>
                          <a:solidFill>
                            <a:srgbClr val="A3E635"/>
                          </a:solidFill>
                          <a:highlight>
                            <a:srgbClr val="000000"/>
                          </a:highlight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+13.4%</a:t>
                      </a:r>
                      <a:endParaRPr b="0" sz="1650">
                        <a:solidFill>
                          <a:srgbClr val="A3E635"/>
                        </a:solidFill>
                        <a:highlight>
                          <a:srgbClr val="000000"/>
                        </a:highlight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25400" marB="254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661975"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>
                          <a:solidFill>
                            <a:srgbClr val="CBD5E1"/>
                          </a:solidFill>
                          <a:highlight>
                            <a:srgbClr val="000000"/>
                          </a:highlight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F1-Score</a:t>
                      </a:r>
                      <a:endParaRPr b="0" sz="1650">
                        <a:solidFill>
                          <a:srgbClr val="CBD5E1"/>
                        </a:solidFill>
                        <a:highlight>
                          <a:srgbClr val="000000"/>
                        </a:highlight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25400" marB="254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>
                          <a:solidFill>
                            <a:srgbClr val="CBD5E1"/>
                          </a:solidFill>
                          <a:highlight>
                            <a:srgbClr val="000000"/>
                          </a:highlight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85.42%</a:t>
                      </a:r>
                      <a:endParaRPr b="0" sz="1650">
                        <a:solidFill>
                          <a:srgbClr val="CBD5E1"/>
                        </a:solidFill>
                        <a:highlight>
                          <a:srgbClr val="000000"/>
                        </a:highlight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25400" marB="254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50">
                          <a:solidFill>
                            <a:srgbClr val="CBD5E1"/>
                          </a:solidFill>
                          <a:highlight>
                            <a:srgbClr val="000000"/>
                          </a:highlight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97.44%</a:t>
                      </a:r>
                      <a:endParaRPr b="1" sz="1650">
                        <a:solidFill>
                          <a:srgbClr val="CBD5E1"/>
                        </a:solidFill>
                        <a:highlight>
                          <a:srgbClr val="000000"/>
                        </a:highlight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25400" marB="254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>
                          <a:solidFill>
                            <a:srgbClr val="A3E635"/>
                          </a:solidFill>
                          <a:highlight>
                            <a:srgbClr val="000000"/>
                          </a:highlight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+14.1%</a:t>
                      </a:r>
                      <a:endParaRPr b="0" sz="1650">
                        <a:solidFill>
                          <a:srgbClr val="A3E635"/>
                        </a:solidFill>
                        <a:highlight>
                          <a:srgbClr val="000000"/>
                        </a:highlight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25400" marB="254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662000"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>
                          <a:solidFill>
                            <a:srgbClr val="CBD5E1"/>
                          </a:solidFill>
                          <a:highlight>
                            <a:srgbClr val="000000"/>
                          </a:highlight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Recall</a:t>
                      </a:r>
                      <a:endParaRPr b="0" sz="1650">
                        <a:solidFill>
                          <a:srgbClr val="CBD5E1"/>
                        </a:solidFill>
                        <a:highlight>
                          <a:srgbClr val="000000"/>
                        </a:highlight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25400" marB="254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>
                          <a:solidFill>
                            <a:srgbClr val="CBD5E1"/>
                          </a:solidFill>
                          <a:highlight>
                            <a:srgbClr val="000000"/>
                          </a:highlight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85.92%</a:t>
                      </a:r>
                      <a:endParaRPr b="0" sz="1650">
                        <a:solidFill>
                          <a:srgbClr val="CBD5E1"/>
                        </a:solidFill>
                        <a:highlight>
                          <a:srgbClr val="000000"/>
                        </a:highlight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25400" marB="254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50">
                          <a:solidFill>
                            <a:srgbClr val="CBD5E1"/>
                          </a:solidFill>
                          <a:highlight>
                            <a:srgbClr val="000000"/>
                          </a:highlight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97.25%</a:t>
                      </a:r>
                      <a:endParaRPr b="1" sz="1650">
                        <a:solidFill>
                          <a:srgbClr val="CBD5E1"/>
                        </a:solidFill>
                        <a:highlight>
                          <a:srgbClr val="000000"/>
                        </a:highlight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25400" marB="254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50">
                          <a:solidFill>
                            <a:srgbClr val="A3E635"/>
                          </a:solidFill>
                          <a:highlight>
                            <a:srgbClr val="000000"/>
                          </a:highlight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+13.2%</a:t>
                      </a:r>
                      <a:endParaRPr b="0" sz="1650">
                        <a:solidFill>
                          <a:srgbClr val="A3E635"/>
                        </a:solidFill>
                        <a:highlight>
                          <a:srgbClr val="000000"/>
                        </a:highlight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25400" marB="25400" marR="63500" marL="63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231" name="Google Shape;231;p23"/>
          <p:cNvSpPr/>
          <p:nvPr/>
        </p:nvSpPr>
        <p:spPr>
          <a:xfrm>
            <a:off x="9042796" y="4014787"/>
            <a:ext cx="2568300" cy="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5524500" y="4014787"/>
            <a:ext cx="3518400" cy="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2095351" y="4014787"/>
            <a:ext cx="3429000" cy="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581025" y="4014787"/>
            <a:ext cx="1514400" cy="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9042796" y="4672012"/>
            <a:ext cx="2568300" cy="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5524500" y="4672012"/>
            <a:ext cx="3518400" cy="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2095351" y="4672012"/>
            <a:ext cx="3429000" cy="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581025" y="4672012"/>
            <a:ext cx="1514400" cy="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 txBox="1"/>
          <p:nvPr/>
        </p:nvSpPr>
        <p:spPr>
          <a:xfrm>
            <a:off x="39052" y="581025"/>
            <a:ext cx="11381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מדדי ביצועים סופיים: </a:t>
            </a:r>
            <a:r>
              <a:rPr b="1" i="0" lang="en-US" sz="39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Deep Dive</a:t>
            </a:r>
            <a:endParaRPr/>
          </a:p>
        </p:txBody>
      </p:sp>
      <p:sp>
        <p:nvSpPr>
          <p:cNvPr id="240" name="Google Shape;240;p23"/>
          <p:cNvSpPr/>
          <p:nvPr/>
        </p:nvSpPr>
        <p:spPr>
          <a:xfrm>
            <a:off x="11553825" y="581025"/>
            <a:ext cx="57300" cy="59070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246" name="Google Shape;246;p24"/>
          <p:cNvSpPr txBox="1"/>
          <p:nvPr/>
        </p:nvSpPr>
        <p:spPr>
          <a:xfrm>
            <a:off x="39053" y="581025"/>
            <a:ext cx="113823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Validation Test: </a:t>
            </a:r>
            <a:r>
              <a:rPr b="1" lang="en-US" sz="3900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Real vs. Synthetic Data</a:t>
            </a:r>
            <a:endParaRPr b="1" sz="3900">
              <a:solidFill>
                <a:srgbClr val="F8FAFC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11553825" y="581025"/>
            <a:ext cx="57300" cy="59070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581025" y="1524000"/>
            <a:ext cx="11030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ביצענו השוואה של 50 רשומות מכל סוג דאטה (אמיתי מול סינתטי) כדי לבחון את עקביות המודל:</a:t>
            </a:r>
            <a:endParaRPr b="0" sz="2000">
              <a:solidFill>
                <a:srgbClr val="CBD5E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grpSp>
        <p:nvGrpSpPr>
          <p:cNvPr id="249" name="Google Shape;249;p24"/>
          <p:cNvGrpSpPr/>
          <p:nvPr/>
        </p:nvGrpSpPr>
        <p:grpSpPr>
          <a:xfrm>
            <a:off x="6477000" y="2667000"/>
            <a:ext cx="4286400" cy="2857500"/>
            <a:chOff x="0" y="0"/>
            <a:chExt cx="4286400" cy="2857500"/>
          </a:xfrm>
        </p:grpSpPr>
        <p:sp>
          <p:nvSpPr>
            <p:cNvPr id="250" name="Google Shape;250;p24"/>
            <p:cNvSpPr/>
            <p:nvPr/>
          </p:nvSpPr>
          <p:spPr>
            <a:xfrm>
              <a:off x="0" y="0"/>
              <a:ext cx="4286400" cy="2857500"/>
            </a:xfrm>
            <a:prstGeom prst="roundRect">
              <a:avLst>
                <a:gd fmla="val 6666" name="adj"/>
              </a:avLst>
            </a:prstGeom>
            <a:solidFill>
              <a:srgbClr val="1E293B">
                <a:alpha val="50000"/>
              </a:srgbClr>
            </a:solidFill>
            <a:ln cap="flat" cmpd="sng" w="1905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4"/>
            <p:cNvSpPr txBox="1"/>
            <p:nvPr/>
          </p:nvSpPr>
          <p:spPr>
            <a:xfrm>
              <a:off x="0" y="0"/>
              <a:ext cx="42864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Real Data</a:t>
              </a:r>
              <a:endParaRPr b="1" sz="24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4800">
                  <a:solidFill>
                    <a:srgbClr val="A3E635"/>
                  </a:solidFill>
                  <a:latin typeface="Urbanist"/>
                  <a:ea typeface="Urbanist"/>
                  <a:cs typeface="Urbanist"/>
                  <a:sym typeface="Urbanist"/>
                </a:rPr>
                <a:t>98%</a:t>
              </a:r>
              <a:endParaRPr b="1" sz="4800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94A3B8"/>
                  </a:solidFill>
                  <a:latin typeface="Assistant"/>
                  <a:ea typeface="Assistant"/>
                  <a:cs typeface="Assistant"/>
                  <a:sym typeface="Assistant"/>
                </a:rPr>
                <a:t>49 / 50 Correct Matches</a:t>
              </a:r>
              <a:endParaRPr b="0" sz="1600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252" name="Google Shape;252;p24"/>
          <p:cNvGrpSpPr/>
          <p:nvPr/>
        </p:nvGrpSpPr>
        <p:grpSpPr>
          <a:xfrm>
            <a:off x="1428750" y="2667000"/>
            <a:ext cx="4286400" cy="2857500"/>
            <a:chOff x="0" y="0"/>
            <a:chExt cx="4286400" cy="2857500"/>
          </a:xfrm>
        </p:grpSpPr>
        <p:sp>
          <p:nvSpPr>
            <p:cNvPr id="253" name="Google Shape;253;p24"/>
            <p:cNvSpPr/>
            <p:nvPr/>
          </p:nvSpPr>
          <p:spPr>
            <a:xfrm>
              <a:off x="0" y="0"/>
              <a:ext cx="4286400" cy="2857500"/>
            </a:xfrm>
            <a:prstGeom prst="roundRect">
              <a:avLst>
                <a:gd fmla="val 6666" name="adj"/>
              </a:avLst>
            </a:prstGeom>
            <a:solidFill>
              <a:srgbClr val="1E293B">
                <a:alpha val="50000"/>
              </a:srgbClr>
            </a:solidFill>
            <a:ln cap="flat" cmpd="sng" w="19050">
              <a:solidFill>
                <a:srgbClr val="A3E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4"/>
            <p:cNvSpPr txBox="1"/>
            <p:nvPr/>
          </p:nvSpPr>
          <p:spPr>
            <a:xfrm>
              <a:off x="0" y="0"/>
              <a:ext cx="42864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Synthetic Data</a:t>
              </a:r>
              <a:endParaRPr b="1" sz="24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4800">
                  <a:solidFill>
                    <a:srgbClr val="A3E635"/>
                  </a:solidFill>
                  <a:latin typeface="Urbanist"/>
                  <a:ea typeface="Urbanist"/>
                  <a:cs typeface="Urbanist"/>
                  <a:sym typeface="Urbanist"/>
                </a:rPr>
                <a:t>100%</a:t>
              </a:r>
              <a:endParaRPr b="1" sz="4800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94A3B8"/>
                  </a:solidFill>
                  <a:latin typeface="Assistant"/>
                  <a:ea typeface="Assistant"/>
                  <a:cs typeface="Assistant"/>
                  <a:sym typeface="Assistant"/>
                </a:rPr>
                <a:t>50 / 50 Correct Matches</a:t>
              </a:r>
              <a:endParaRPr b="0" sz="1600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pic>
        <p:nvPicPr>
          <p:cNvPr id="255" name="Google Shape;25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1238" y="3048000"/>
            <a:ext cx="9600" cy="20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51550" y="4171950"/>
            <a:ext cx="9242874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/>
          <p:nvPr/>
        </p:nvSpPr>
        <p:spPr>
          <a:xfrm>
            <a:off x="581025" y="2047875"/>
            <a:ext cx="11029950" cy="38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10254853" y="1933575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A3E635"/>
          </a:solidFill>
          <a:ln cap="flat" cmpd="sng" w="57150">
            <a:solidFill>
              <a:srgbClr val="0206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 txBox="1"/>
          <p:nvPr/>
        </p:nvSpPr>
        <p:spPr>
          <a:xfrm>
            <a:off x="9123818" y="2409825"/>
            <a:ext cx="2547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1. קלט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9184481" y="2781300"/>
            <a:ext cx="24264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תגובת אינסטגרם גולמית (JSON)</a:t>
            </a:r>
            <a:endParaRPr/>
          </a:p>
        </p:txBody>
      </p:sp>
      <p:sp>
        <p:nvSpPr>
          <p:cNvPr id="266" name="Google Shape;266;p25"/>
          <p:cNvSpPr/>
          <p:nvPr/>
        </p:nvSpPr>
        <p:spPr>
          <a:xfrm>
            <a:off x="7387083" y="1933575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A3E635"/>
          </a:solidFill>
          <a:ln cap="flat" cmpd="sng" w="57150">
            <a:solidFill>
              <a:srgbClr val="0206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 txBox="1"/>
          <p:nvPr/>
        </p:nvSpPr>
        <p:spPr>
          <a:xfrm>
            <a:off x="6256049" y="2409825"/>
            <a:ext cx="2547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2. API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6316712" y="2781300"/>
            <a:ext cx="2426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שליחת הטקסט לשרת FastAPI</a:t>
            </a:r>
            <a:endParaRPr/>
          </a:p>
        </p:txBody>
      </p:sp>
      <p:sp>
        <p:nvSpPr>
          <p:cNvPr id="269" name="Google Shape;269;p25"/>
          <p:cNvSpPr/>
          <p:nvPr/>
        </p:nvSpPr>
        <p:spPr>
          <a:xfrm>
            <a:off x="4519314" y="1933575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A3E635"/>
          </a:solidFill>
          <a:ln cap="flat" cmpd="sng" w="57150">
            <a:solidFill>
              <a:srgbClr val="0206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 txBox="1"/>
          <p:nvPr/>
        </p:nvSpPr>
        <p:spPr>
          <a:xfrm>
            <a:off x="3388280" y="2409825"/>
            <a:ext cx="2547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3. סיווג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3448942" y="2781300"/>
            <a:ext cx="2426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מודל SetFit מזהה Intent</a:t>
            </a:r>
            <a:endParaRPr/>
          </a:p>
        </p:txBody>
      </p:sp>
      <p:sp>
        <p:nvSpPr>
          <p:cNvPr id="272" name="Google Shape;272;p25"/>
          <p:cNvSpPr/>
          <p:nvPr/>
        </p:nvSpPr>
        <p:spPr>
          <a:xfrm>
            <a:off x="1651545" y="1933575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A3E635"/>
          </a:solidFill>
          <a:ln cap="flat" cmpd="sng" w="57150">
            <a:solidFill>
              <a:srgbClr val="0206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 txBox="1"/>
          <p:nvPr/>
        </p:nvSpPr>
        <p:spPr>
          <a:xfrm>
            <a:off x="520511" y="2409825"/>
            <a:ext cx="2547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4. פעולה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581173" y="2781300"/>
            <a:ext cx="24264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ביצוע אוטומציה (לינק/תמיכה/חסימה)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39052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ארכיטקטורת המערכת: </a:t>
            </a:r>
            <a:r>
              <a:rPr b="1" i="0" lang="en-US" sz="39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Lazyspond AI</a:t>
            </a:r>
            <a:endParaRPr/>
          </a:p>
        </p:txBody>
      </p:sp>
      <p:sp>
        <p:nvSpPr>
          <p:cNvPr id="276" name="Google Shape;276;p25"/>
          <p:cNvSpPr/>
          <p:nvPr/>
        </p:nvSpPr>
        <p:spPr>
          <a:xfrm>
            <a:off x="11553825" y="581025"/>
            <a:ext cx="57150" cy="59055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25"/>
          <p:cNvPicPr preferRelativeResize="0"/>
          <p:nvPr/>
        </p:nvPicPr>
        <p:blipFill rotWithShape="1">
          <a:blip r:embed="rId5">
            <a:alphaModFix/>
          </a:blip>
          <a:srcRect b="0" l="0" r="31385" t="60852"/>
          <a:stretch/>
        </p:blipFill>
        <p:spPr>
          <a:xfrm>
            <a:off x="1714825" y="4282988"/>
            <a:ext cx="9041449" cy="225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2" name="Google Shape;28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6"/>
          <p:cNvSpPr txBox="1"/>
          <p:nvPr/>
        </p:nvSpPr>
        <p:spPr>
          <a:xfrm>
            <a:off x="1809750" y="2448966"/>
            <a:ext cx="8572500" cy="10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12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A3E635"/>
                </a:solidFill>
                <a:latin typeface="Assistant"/>
                <a:ea typeface="Assistant"/>
                <a:cs typeface="Assistant"/>
                <a:sym typeface="Assistant"/>
              </a:rPr>
              <a:t>"NLP ייעודי הוא לא רק טכנולוגיה, הוא מנוע הצמיחה של אוטומציות ממוקדות לקוח</a:t>
            </a:r>
            <a:r>
              <a:rPr b="1" lang="en-US" sz="2850">
                <a:solidFill>
                  <a:srgbClr val="A3E635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b="1" i="0" lang="en-US" sz="2850" u="none" cap="none" strike="noStrike">
                <a:solidFill>
                  <a:srgbClr val="A3E635"/>
                </a:solidFill>
                <a:latin typeface="Assistant"/>
                <a:ea typeface="Assistant"/>
                <a:cs typeface="Assistant"/>
                <a:sym typeface="Assistant"/>
              </a:rPr>
              <a:t>."</a:t>
            </a:r>
            <a:endParaRPr/>
          </a:p>
        </p:txBody>
      </p:sp>
      <p:pic>
        <p:nvPicPr>
          <p:cNvPr descr="image.png" id="284" name="Google Shape;28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45599" y="4161383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6"/>
          <p:cNvSpPr txBox="1"/>
          <p:nvPr/>
        </p:nvSpPr>
        <p:spPr>
          <a:xfrm>
            <a:off x="7893627" y="4694783"/>
            <a:ext cx="22468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מענה מהיר</a:t>
            </a:r>
            <a:endParaRPr/>
          </a:p>
        </p:txBody>
      </p:sp>
      <p:pic>
        <p:nvPicPr>
          <p:cNvPr descr="image.png" id="286" name="Google Shape;28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24550" y="4161383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6"/>
          <p:cNvSpPr txBox="1"/>
          <p:nvPr/>
        </p:nvSpPr>
        <p:spPr>
          <a:xfrm>
            <a:off x="4972574" y="4694783"/>
            <a:ext cx="22469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סינון ספאם</a:t>
            </a:r>
            <a:endParaRPr/>
          </a:p>
        </p:txBody>
      </p:sp>
      <p:pic>
        <p:nvPicPr>
          <p:cNvPr descr="image.png" id="288" name="Google Shape;288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03649" y="4161383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6"/>
          <p:cNvSpPr txBox="1"/>
          <p:nvPr/>
        </p:nvSpPr>
        <p:spPr>
          <a:xfrm>
            <a:off x="2051677" y="4694783"/>
            <a:ext cx="22468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המרה גבוהה</a:t>
            </a:r>
            <a:endParaRPr/>
          </a:p>
        </p:txBody>
      </p:sp>
      <p:sp>
        <p:nvSpPr>
          <p:cNvPr id="290" name="Google Shape;290;p26"/>
          <p:cNvSpPr txBox="1"/>
          <p:nvPr/>
        </p:nvSpPr>
        <p:spPr>
          <a:xfrm>
            <a:off x="39052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סיכום </a:t>
            </a:r>
            <a:r>
              <a:rPr b="1" i="0" lang="en-US" sz="39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והשפעה עסקית</a:t>
            </a:r>
            <a:endParaRPr/>
          </a:p>
        </p:txBody>
      </p:sp>
      <p:sp>
        <p:nvSpPr>
          <p:cNvPr id="291" name="Google Shape;291;p26"/>
          <p:cNvSpPr/>
          <p:nvPr/>
        </p:nvSpPr>
        <p:spPr>
          <a:xfrm>
            <a:off x="11553825" y="581025"/>
            <a:ext cx="57150" cy="59055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6" name="Google Shape;29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7"/>
          <p:cNvSpPr txBox="1"/>
          <p:nvPr/>
        </p:nvSpPr>
        <p:spPr>
          <a:xfrm>
            <a:off x="3690912" y="2394325"/>
            <a:ext cx="4810200" cy="11391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תודה על ההקשבה!</a:t>
            </a:r>
            <a:br>
              <a:rPr b="1" lang="en-US" sz="6000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b="1" lang="en-US" sz="2000">
                <a:solidFill>
                  <a:srgbClr val="F8FAFC"/>
                </a:solidFill>
                <a:latin typeface="Assistant"/>
                <a:ea typeface="Assistant"/>
                <a:cs typeface="Assistant"/>
                <a:sym typeface="Assistant"/>
              </a:rPr>
              <a:t>נשמח לענות על שאלות.</a:t>
            </a:r>
            <a:endParaRPr sz="3000"/>
          </a:p>
        </p:txBody>
      </p:sp>
      <p:sp>
        <p:nvSpPr>
          <p:cNvPr id="298" name="Google Shape;298;p27"/>
          <p:cNvSpPr txBox="1"/>
          <p:nvPr/>
        </p:nvSpPr>
        <p:spPr>
          <a:xfrm>
            <a:off x="4591050" y="4162425"/>
            <a:ext cx="3009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Assistant"/>
                <a:ea typeface="Assistant"/>
                <a:cs typeface="Assistant"/>
                <a:sym typeface="Assistant"/>
              </a:rPr>
              <a:t>Project Repo:</a:t>
            </a:r>
            <a:endParaRPr/>
          </a:p>
        </p:txBody>
      </p:sp>
      <p:sp>
        <p:nvSpPr>
          <p:cNvPr id="299" name="Google Shape;299;p27"/>
          <p:cNvSpPr txBox="1"/>
          <p:nvPr/>
        </p:nvSpPr>
        <p:spPr>
          <a:xfrm>
            <a:off x="4241850" y="4448175"/>
            <a:ext cx="3660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A3E635"/>
                </a:solidFill>
                <a:uFill>
                  <a:noFill/>
                </a:uFill>
                <a:latin typeface="Urbanist"/>
                <a:ea typeface="Urbanist"/>
                <a:cs typeface="Urbanist"/>
                <a:sym typeface="Urbanis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github.com/Amityst12/NLP-IntentClassification</a:t>
            </a:r>
            <a:r>
              <a:rPr lang="en-US" sz="1300">
                <a:solidFill>
                  <a:schemeClr val="dk1"/>
                </a:solidFill>
              </a:rPr>
              <a:t> </a:t>
            </a:r>
            <a:endParaRPr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4" name="Google Shape;30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8"/>
          <p:cNvSpPr txBox="1"/>
          <p:nvPr/>
        </p:nvSpPr>
        <p:spPr>
          <a:xfrm>
            <a:off x="581025" y="2809875"/>
            <a:ext cx="10649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Tunstall, L., et al. (2022).</a:t>
            </a:r>
            <a:r>
              <a:rPr b="0" i="0" lang="en-US" sz="165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b="0" i="1" lang="en-US" sz="165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Efficient Few-Shot Learning Without Prompts.</a:t>
            </a:r>
            <a:r>
              <a:rPr b="0" i="0" lang="en-US" sz="165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 arXiv:2209.11055.</a:t>
            </a:r>
            <a:endParaRPr/>
          </a:p>
        </p:txBody>
      </p:sp>
      <p:sp>
        <p:nvSpPr>
          <p:cNvPr id="306" name="Google Shape;306;p28"/>
          <p:cNvSpPr txBox="1"/>
          <p:nvPr/>
        </p:nvSpPr>
        <p:spPr>
          <a:xfrm>
            <a:off x="581025" y="3362325"/>
            <a:ext cx="10649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Reimers, N., &amp; Gurevych, I. (2019).</a:t>
            </a:r>
            <a:r>
              <a:rPr b="0" i="0" lang="en-US" sz="165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b="0" i="1" lang="en-US" sz="165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Sentence-BERT: Sentence Embeddings using Siamese BERT-Networks.</a:t>
            </a:r>
            <a:r>
              <a:rPr b="0" i="0" lang="en-US" sz="165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 EMNLP 2019.</a:t>
            </a:r>
            <a:endParaRPr/>
          </a:p>
        </p:txBody>
      </p:sp>
      <p:sp>
        <p:nvSpPr>
          <p:cNvPr id="307" name="Google Shape;307;p28"/>
          <p:cNvSpPr txBox="1"/>
          <p:nvPr/>
        </p:nvSpPr>
        <p:spPr>
          <a:xfrm>
            <a:off x="581025" y="3914775"/>
            <a:ext cx="10649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Hartvigsen, T., et al. (2023).</a:t>
            </a:r>
            <a:r>
              <a:rPr b="0" i="0" lang="en-US" sz="165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b="0" i="1" lang="en-US" sz="165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Generating Synthetic Data for Text Classification in Low-Resource Scenarios.</a:t>
            </a:r>
            <a:r>
              <a:rPr b="0" i="0" lang="en-US" sz="165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 ACL Findings.</a:t>
            </a:r>
            <a:endParaRPr/>
          </a:p>
        </p:txBody>
      </p:sp>
      <p:sp>
        <p:nvSpPr>
          <p:cNvPr id="308" name="Google Shape;308;p28"/>
          <p:cNvSpPr txBox="1"/>
          <p:nvPr/>
        </p:nvSpPr>
        <p:spPr>
          <a:xfrm>
            <a:off x="581025" y="4467225"/>
            <a:ext cx="10649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MiniLM: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b="0" i="1" lang="en-US" sz="165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Small and Fast Pre-trained Models for Language Understanding and Generation.</a:t>
            </a:r>
            <a:r>
              <a:rPr b="0" i="0" lang="en-US" sz="165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 NeurIPS.</a:t>
            </a:r>
            <a:endParaRPr/>
          </a:p>
        </p:txBody>
      </p:sp>
      <p:sp>
        <p:nvSpPr>
          <p:cNvPr id="309" name="Google Shape;309;p28"/>
          <p:cNvSpPr txBox="1"/>
          <p:nvPr/>
        </p:nvSpPr>
        <p:spPr>
          <a:xfrm>
            <a:off x="39052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מקורות אקדמיים: </a:t>
            </a:r>
            <a:r>
              <a:rPr b="1" i="0" lang="en-US" sz="39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Bibliography</a:t>
            </a:r>
            <a:endParaRPr/>
          </a:p>
        </p:txBody>
      </p:sp>
      <p:sp>
        <p:nvSpPr>
          <p:cNvPr id="310" name="Google Shape;310;p28"/>
          <p:cNvSpPr/>
          <p:nvPr/>
        </p:nvSpPr>
        <p:spPr>
          <a:xfrm>
            <a:off x="11553825" y="581025"/>
            <a:ext cx="57150" cy="59055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/>
          <p:nvPr/>
        </p:nvSpPr>
        <p:spPr>
          <a:xfrm>
            <a:off x="581025" y="2762250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9"/>
          <p:cNvSpPr/>
          <p:nvPr/>
        </p:nvSpPr>
        <p:spPr>
          <a:xfrm>
            <a:off x="581025" y="3533775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9"/>
          <p:cNvSpPr/>
          <p:nvPr/>
        </p:nvSpPr>
        <p:spPr>
          <a:xfrm>
            <a:off x="581025" y="352425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9"/>
          <p:cNvSpPr/>
          <p:nvPr/>
        </p:nvSpPr>
        <p:spPr>
          <a:xfrm>
            <a:off x="581025" y="352425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9"/>
          <p:cNvSpPr/>
          <p:nvPr/>
        </p:nvSpPr>
        <p:spPr>
          <a:xfrm>
            <a:off x="581025" y="429577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9"/>
          <p:cNvSpPr/>
          <p:nvPr/>
        </p:nvSpPr>
        <p:spPr>
          <a:xfrm>
            <a:off x="581025" y="429577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2" name="Google Shape;32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53725" y="29051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9"/>
          <p:cNvSpPr txBox="1"/>
          <p:nvPr/>
        </p:nvSpPr>
        <p:spPr>
          <a:xfrm>
            <a:off x="581025" y="2912268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https://www.ticketfairy.com/blog/wp-content/uploads/2026/01/how-to-evaluate-a-venue-for-lighting-and-sound-technical-capabilities-and-power_featured_20260103_020158_1_2k.jpg</a:t>
            </a:r>
            <a:endParaRPr/>
          </a:p>
        </p:txBody>
      </p:sp>
      <p:sp>
        <p:nvSpPr>
          <p:cNvPr id="324" name="Google Shape;324;p29"/>
          <p:cNvSpPr txBox="1"/>
          <p:nvPr/>
        </p:nvSpPr>
        <p:spPr>
          <a:xfrm>
            <a:off x="581025" y="3145631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ssistant"/>
                <a:ea typeface="Assistant"/>
                <a:cs typeface="Assistant"/>
                <a:sym typeface="Assistant"/>
              </a:rPr>
              <a:t>www.ticketfairy.com</a:t>
            </a:r>
            <a:endParaRPr/>
          </a:p>
        </p:txBody>
      </p:sp>
      <p:pic>
        <p:nvPicPr>
          <p:cNvPr descr="image.png" id="325" name="Google Shape;32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53725" y="36766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9"/>
          <p:cNvSpPr txBox="1"/>
          <p:nvPr/>
        </p:nvSpPr>
        <p:spPr>
          <a:xfrm>
            <a:off x="581025" y="3683793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https://images.presentationgo.com/2025/04/ai-neural-network-brain.jpg</a:t>
            </a:r>
            <a:endParaRPr/>
          </a:p>
        </p:txBody>
      </p:sp>
      <p:sp>
        <p:nvSpPr>
          <p:cNvPr id="327" name="Google Shape;327;p29"/>
          <p:cNvSpPr txBox="1"/>
          <p:nvPr/>
        </p:nvSpPr>
        <p:spPr>
          <a:xfrm>
            <a:off x="581025" y="3917156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ssistant"/>
                <a:ea typeface="Assistant"/>
                <a:cs typeface="Assistant"/>
                <a:sym typeface="Assistant"/>
              </a:rPr>
              <a:t>www.presentationgo.com</a:t>
            </a:r>
            <a:endParaRPr/>
          </a:p>
        </p:txBody>
      </p:sp>
      <p:pic>
        <p:nvPicPr>
          <p:cNvPr descr="image.png" id="328" name="Google Shape;328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53725" y="44481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581025" y="4455318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https://slidemodel.com/wp-content/uploads/6177-02-network-diagram-template-powerpoint-1.jpg</a:t>
            </a:r>
            <a:endParaRPr/>
          </a:p>
        </p:txBody>
      </p:sp>
      <p:sp>
        <p:nvSpPr>
          <p:cNvPr id="330" name="Google Shape;330;p29"/>
          <p:cNvSpPr txBox="1"/>
          <p:nvPr/>
        </p:nvSpPr>
        <p:spPr>
          <a:xfrm>
            <a:off x="581025" y="4688681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ssistant"/>
                <a:ea typeface="Assistant"/>
                <a:cs typeface="Assistant"/>
                <a:sym typeface="Assistant"/>
              </a:rPr>
              <a:t>slidemodel.com</a:t>
            </a:r>
            <a:endParaRPr/>
          </a:p>
        </p:txBody>
      </p:sp>
      <p:sp>
        <p:nvSpPr>
          <p:cNvPr id="331" name="Google Shape;331;p29"/>
          <p:cNvSpPr txBox="1"/>
          <p:nvPr/>
        </p:nvSpPr>
        <p:spPr>
          <a:xfrm>
            <a:off x="39052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332" name="Google Shape;332;p29"/>
          <p:cNvSpPr/>
          <p:nvPr/>
        </p:nvSpPr>
        <p:spPr>
          <a:xfrm>
            <a:off x="11553825" y="581025"/>
            <a:ext cx="57150" cy="59055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